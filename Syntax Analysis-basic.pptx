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4" r:id="rId4"/>
    <p:sldId id="257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3" r:id="rId13"/>
    <p:sldId id="272" r:id="rId14"/>
    <p:sldId id="274" r:id="rId15"/>
    <p:sldId id="275" r:id="rId16"/>
    <p:sldId id="276" r:id="rId17"/>
    <p:sldId id="277" r:id="rId18"/>
    <p:sldId id="278" r:id="rId19"/>
    <p:sldId id="279" r:id="rId20"/>
    <p:sldId id="286" r:id="rId21"/>
    <p:sldId id="280" r:id="rId22"/>
    <p:sldId id="281" r:id="rId23"/>
    <p:sldId id="282" r:id="rId24"/>
    <p:sldId id="283" r:id="rId25"/>
    <p:sldId id="284" r:id="rId26"/>
    <p:sldId id="285" r:id="rId27"/>
    <p:sldId id="26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2206817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US"/>
              <a:t>ELIMINATING AMBIGUITY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6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9255" y="1417320"/>
            <a:ext cx="11412855" cy="3152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Eliminating Ambiguity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Ambiguity occurs when a grammar can generate more than one parse tree (or derivation) for the same string.</a:t>
            </a:r>
            <a:endParaRPr lang="en-US" altLang="en-US"/>
          </a:p>
          <a:p>
            <a:r>
              <a:rPr lang="en-US" altLang="en-US"/>
              <a:t>This is bad for compiler design because the meaning of a program becomes unclear.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545" y="4232275"/>
            <a:ext cx="9001125" cy="12052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555" y="1400175"/>
            <a:ext cx="10422255" cy="38538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Importance of Eliminating Ambiguity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Ensures unique parse tree for each valid input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Guarantees correct syntax analysis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Helps in generating reliable intermediate and target code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Essential for building efficient and deterministic compilers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Causes of Ambiguity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>
                <a:solidFill>
                  <a:srgbClr val="FF0000"/>
                </a:solidFill>
              </a:rPr>
              <a:t>Why Does Ambiguity Arise?</a:t>
            </a:r>
            <a:endParaRPr lang="en-US" alt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Grammar allows multiple interpretations of the same string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No clear rules for: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Operator precedence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Operator associativity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Overlapping production rules</a:t>
            </a:r>
            <a:endParaRPr lang="en-US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Ambiguity Example – Arithmetic Expression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800"/>
              <a:t>3 + 4 * 5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>
                <a:solidFill>
                  <a:srgbClr val="FF0000"/>
                </a:solidFill>
              </a:rPr>
              <a:t>Possible Interpretations</a:t>
            </a:r>
            <a:endParaRPr lang="en-US" altLang="en-US" sz="280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(3 + 4) * 5 → Addition first</a:t>
            </a:r>
            <a:endParaRPr lang="en-US" altLang="en-US" sz="2800"/>
          </a:p>
          <a:p>
            <a:pPr marL="0" indent="0">
              <a:buNone/>
            </a:pP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3 + (4 * 5) → Multiplication first</a:t>
            </a:r>
            <a:endParaRPr lang="en-US" altLang="en-US" sz="2800"/>
          </a:p>
          <a:p>
            <a:pPr marL="0" indent="0">
              <a:buNone/>
            </a:pP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Different interpretations lead to different results</a:t>
            </a:r>
            <a:endParaRPr lang="en-US" altLang="en-US" sz="2800"/>
          </a:p>
          <a:p>
            <a:pPr marL="0" indent="0">
              <a:buNone/>
            </a:pP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Ambiguity arises due to missing precedence rules</a:t>
            </a:r>
            <a:endParaRPr lang="en-US" altLang="en-US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Ambiguous Grammar Example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Ambiguous Grammar for Expressions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 sz="3200"/>
              <a:t>E → E + E</a:t>
            </a:r>
            <a:endParaRPr lang="en-US" altLang="en-US" sz="3200"/>
          </a:p>
          <a:p>
            <a:pPr marL="457200" lvl="1" indent="0">
              <a:buNone/>
            </a:pPr>
            <a:r>
              <a:rPr lang="en-US" altLang="en-US" sz="3200"/>
              <a:t>E → E * E</a:t>
            </a:r>
            <a:endParaRPr lang="en-US" altLang="en-US" sz="3200"/>
          </a:p>
          <a:p>
            <a:pPr marL="457200" lvl="1" indent="0">
              <a:buNone/>
            </a:pPr>
            <a:r>
              <a:rPr lang="en-US" altLang="en-US" sz="3200"/>
              <a:t>E → (E)</a:t>
            </a:r>
            <a:endParaRPr lang="en-US" altLang="en-US" sz="3200"/>
          </a:p>
          <a:p>
            <a:pPr marL="457200" lvl="1" indent="0">
              <a:buNone/>
            </a:pPr>
            <a:r>
              <a:rPr lang="en-US" altLang="en-US" sz="3200"/>
              <a:t>E → id</a:t>
            </a:r>
            <a:endParaRPr lang="en-US" altLang="en-US" sz="3200"/>
          </a:p>
          <a:p>
            <a:r>
              <a:rPr lang="en-US" altLang="en-US" sz="2800">
                <a:solidFill>
                  <a:srgbClr val="FF0000"/>
                </a:solidFill>
              </a:rPr>
              <a:t>Issue</a:t>
            </a:r>
            <a:endParaRPr lang="en-US" altLang="en-US" sz="2800">
              <a:solidFill>
                <a:srgbClr val="FF0000"/>
              </a:solidFill>
            </a:endParaRPr>
          </a:p>
          <a:p>
            <a:endParaRPr lang="en-US" altLang="en-US" sz="2800">
              <a:solidFill>
                <a:srgbClr val="FF0000"/>
              </a:solidFill>
            </a:endParaRPr>
          </a:p>
          <a:p>
            <a:r>
              <a:rPr lang="en-US" altLang="en-US" sz="2800">
                <a:solidFill>
                  <a:srgbClr val="FF0000"/>
                </a:solidFill>
              </a:rPr>
              <a:t>Grammar does not define precedence between + and *</a:t>
            </a:r>
            <a:endParaRPr lang="en-US" altLang="en-US" sz="2800">
              <a:solidFill>
                <a:srgbClr val="FF0000"/>
              </a:solidFill>
            </a:endParaRPr>
          </a:p>
          <a:p>
            <a:endParaRPr lang="en-US" altLang="en-US" sz="2800">
              <a:solidFill>
                <a:srgbClr val="FF0000"/>
              </a:solidFill>
            </a:endParaRPr>
          </a:p>
          <a:p>
            <a:r>
              <a:rPr lang="en-US" altLang="en-US" sz="2800">
                <a:solidFill>
                  <a:srgbClr val="FF0000"/>
                </a:solidFill>
              </a:rPr>
              <a:t>Allows multiple parse trees for the same expression</a:t>
            </a:r>
            <a:endParaRPr lang="en-US" alt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Ambiguity Demonstration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52500"/>
            <a:ext cx="10972800" cy="4953000"/>
          </a:xfrm>
        </p:spPr>
        <p:txBody>
          <a:bodyPr/>
          <a:p>
            <a:r>
              <a:rPr lang="en-US" altLang="en-US"/>
              <a:t>Input String</a:t>
            </a:r>
            <a:endParaRPr lang="en-US" altLang="en-US"/>
          </a:p>
          <a:p>
            <a:r>
              <a:rPr lang="en-US" altLang="en-US"/>
              <a:t>id + id * id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Valid Parse Interpretations</a:t>
            </a:r>
            <a:endParaRPr lang="en-US" altLang="en-US"/>
          </a:p>
          <a:p>
            <a:r>
              <a:rPr lang="en-US" altLang="en-US" sz="2800"/>
              <a:t>(id + id) * id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id + (id * id)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✔ Both are syntactically valid</a:t>
            </a:r>
            <a:endParaRPr lang="en-US" altLang="en-US" sz="2800"/>
          </a:p>
          <a:p>
            <a:r>
              <a:rPr lang="en-US" altLang="en-US" sz="2800">
                <a:solidFill>
                  <a:srgbClr val="FF0000"/>
                </a:solidFill>
              </a:rPr>
              <a:t>❌ Results are different</a:t>
            </a:r>
            <a:endParaRPr lang="en-US" alt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Methods to Eliminate Ambiguity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800">
                <a:solidFill>
                  <a:srgbClr val="FF0000"/>
                </a:solidFill>
              </a:rPr>
              <a:t>Techniques Used</a:t>
            </a:r>
            <a:endParaRPr lang="en-US" altLang="en-US" sz="280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en-US" sz="2800"/>
          </a:p>
          <a:p>
            <a:pPr lvl="1"/>
            <a:r>
              <a:rPr lang="en-US" altLang="en-US"/>
              <a:t>Rewriting the grammar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Operator precedence and associativity rules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Semantic actions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Left recursion elimination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Explanation of Rewritten Grammar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/>
              <a:t>Meaning of Non-Terminals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E → Expression (handles addition)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T → Term (handles multiplication)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F → Factor (identifier or parenthesized expression)</a:t>
            </a:r>
            <a:endParaRPr lang="en-US" altLang="en-US" sz="2400"/>
          </a:p>
          <a:p>
            <a:r>
              <a:rPr lang="en-US" altLang="en-US" sz="2400"/>
              <a:t>Result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Multiplication has higher precedence than addition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Grammar becomes unambiguous</a:t>
            </a:r>
            <a:endParaRPr lang="en-US" alt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Refactoring the Grammar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Rewrite grammar to make precedence explicit</a:t>
            </a:r>
            <a:endParaRPr lang="en-US" altLang="en-US"/>
          </a:p>
          <a:p>
            <a:r>
              <a:rPr lang="en-US" altLang="en-US"/>
              <a:t>Separate operators based on priority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Unambiguous Grammar</a:t>
            </a:r>
            <a:endParaRPr lang="en-US" altLang="en-US"/>
          </a:p>
          <a:p>
            <a:pPr lvl="1"/>
            <a:r>
              <a:rPr lang="en-US" altLang="en-US"/>
              <a:t>E → E + T | T</a:t>
            </a:r>
            <a:endParaRPr lang="en-US" altLang="en-US"/>
          </a:p>
          <a:p>
            <a:pPr lvl="1"/>
            <a:r>
              <a:rPr lang="en-US" altLang="en-US"/>
              <a:t>T → T * F | F</a:t>
            </a:r>
            <a:endParaRPr lang="en-US" altLang="en-US"/>
          </a:p>
          <a:p>
            <a:pPr lvl="1"/>
            <a:r>
              <a:rPr lang="en-US" altLang="en-US"/>
              <a:t>F → (E) | id</a:t>
            </a:r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Correct Interpretation After Rewriting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Expression</a:t>
            </a:r>
            <a:endParaRPr lang="en-US" altLang="en-US"/>
          </a:p>
          <a:p>
            <a:r>
              <a:rPr lang="en-US" altLang="en-US"/>
              <a:t>id + id * id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Parsed As</a:t>
            </a:r>
            <a:endParaRPr lang="en-US" altLang="en-US"/>
          </a:p>
          <a:p>
            <a:r>
              <a:rPr lang="en-US" altLang="en-US"/>
              <a:t>id + (id * id)</a:t>
            </a:r>
            <a:endParaRPr lang="en-US" altLang="en-US"/>
          </a:p>
          <a:p>
            <a:r>
              <a:rPr lang="en-US" altLang="en-US"/>
              <a:t>✔ Correct precedence</a:t>
            </a:r>
            <a:endParaRPr lang="en-US" altLang="en-US"/>
          </a:p>
          <a:p>
            <a:r>
              <a:rPr lang="en-US" altLang="en-US"/>
              <a:t>✔ Single valid parse tree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Method 2 – Operator Precedence Rules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>
                <a:solidFill>
                  <a:srgbClr val="FF0000"/>
                </a:solidFill>
              </a:rPr>
              <a:t>Operator Precedence</a:t>
            </a:r>
            <a:endParaRPr lang="en-US" alt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Defines which operator is evaluated first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Example: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 b="1">
                <a:solidFill>
                  <a:schemeClr val="accent1"/>
                </a:solidFill>
              </a:rPr>
              <a:t>* has higher precedence than +</a:t>
            </a:r>
            <a:endParaRPr lang="en-US" altLang="en-US" sz="2400" b="1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>
                <a:solidFill>
                  <a:srgbClr val="FF0000"/>
                </a:solidFill>
              </a:rPr>
              <a:t>Benefit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Prevents multiple interpretations of expressions</a:t>
            </a:r>
            <a:endParaRPr lang="en-US" altLang="en-US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Operator Associativity Rules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Associativity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Determines grouping when operators have same precedence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Example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Left Associative: a + b + c  →  (a + b) + c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Method 3 – Semantic Actions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66140"/>
            <a:ext cx="10972800" cy="5821045"/>
          </a:xfrm>
        </p:spPr>
        <p:txBody>
          <a:bodyPr/>
          <a:p>
            <a:pPr marL="0" indent="0"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Using Semantics to Resolve Ambiguity</a:t>
            </a:r>
            <a:endParaRPr lang="en-US" altLang="en-US" sz="20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en-US" sz="2000"/>
          </a:p>
          <a:p>
            <a:r>
              <a:rPr lang="en-US" altLang="en-US" sz="2000"/>
              <a:t>Grammar may remain ambiguous syntactically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Meaning resolved using semantic rules</a:t>
            </a:r>
            <a:endParaRPr lang="en-US" altLang="en-US" sz="2000"/>
          </a:p>
          <a:p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olidFill>
                  <a:srgbClr val="FF0000"/>
                </a:solidFill>
              </a:rPr>
              <a:t>Examples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r>
              <a:rPr lang="en-US" altLang="en-US" sz="2000"/>
              <a:t>Type checking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Context-based evaluation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Operand compatibility checks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✔ Used during parsing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✔ Helps in correct interpretation</a:t>
            </a:r>
            <a:endParaRPr lang="en-US" alt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Method 4 – Left Recursion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Left Recursive Grammar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 → E + 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 → 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Problems</a:t>
            </a:r>
            <a:endParaRPr lang="en-US" altLang="en-US"/>
          </a:p>
          <a:p>
            <a:pPr lvl="1"/>
            <a:r>
              <a:rPr lang="en-US" altLang="en-US"/>
              <a:t>Causes infinite recursion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Difficult for top-down parsers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Can introduce ambiguity</a:t>
            </a: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Eliminating Left Recursion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Right Recursive Form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E  → T E'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E' → + T E' | ε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T  → id | (E)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 b="1"/>
              <a:t>Advantages</a:t>
            </a:r>
            <a:endParaRPr lang="en-US" altLang="en-US"/>
          </a:p>
          <a:p>
            <a:pPr marL="457200" lvl="1" indent="0">
              <a:buNone/>
            </a:pPr>
            <a:endParaRPr lang="en-US" altLang="en-US"/>
          </a:p>
          <a:p>
            <a:pPr marL="457200" lvl="1" indent="0">
              <a:buNone/>
            </a:pPr>
            <a:r>
              <a:rPr lang="en-US" altLang="en-US" sz="2400"/>
              <a:t>Suitable for predictive parsing</a:t>
            </a:r>
            <a:endParaRPr lang="en-US" altLang="en-US" sz="2400"/>
          </a:p>
          <a:p>
            <a:pPr marL="457200" lvl="1" indent="0">
              <a:buNone/>
            </a:pPr>
            <a:endParaRPr lang="en-US" altLang="en-US" sz="2400"/>
          </a:p>
          <a:p>
            <a:pPr marL="457200" lvl="1" indent="0">
              <a:buNone/>
            </a:pPr>
            <a:r>
              <a:rPr lang="en-US" altLang="en-US" sz="2400"/>
              <a:t>Removes left recursion</a:t>
            </a:r>
            <a:endParaRPr lang="en-US" altLang="en-US" sz="2400"/>
          </a:p>
          <a:p>
            <a:pPr marL="457200" lvl="1" indent="0">
              <a:buNone/>
            </a:pPr>
            <a:endParaRPr lang="en-US" altLang="en-US" sz="2400"/>
          </a:p>
          <a:p>
            <a:pPr marL="457200" lvl="1" indent="0">
              <a:buNone/>
            </a:pPr>
            <a:r>
              <a:rPr lang="en-US" altLang="en-US" sz="2400"/>
              <a:t>Simplifies parsing process</a:t>
            </a:r>
            <a:endParaRPr lang="en-US" altLang="en-U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Terminal symbol:</a:t>
            </a:r>
            <a:endParaRPr lang="en-US" altLang="en-US"/>
          </a:p>
          <a:p>
            <a:r>
              <a:rPr lang="en-US" altLang="en-US"/>
              <a:t>A terminal is a basic symbol of a grammar that cannot be replaced or expanded further.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Non-terminal symbol:</a:t>
            </a:r>
            <a:endParaRPr lang="en-US" altLang="en-US"/>
          </a:p>
          <a:p>
            <a:r>
              <a:rPr lang="en-US" altLang="en-US"/>
              <a:t>A non-terminal is a syntactic variable used to define language structures through production rules.</a:t>
            </a: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Terminal Symbols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8205"/>
            <a:ext cx="10972800" cy="5740400"/>
          </a:xfrm>
        </p:spPr>
        <p:txBody>
          <a:bodyPr/>
          <a:p>
            <a:r>
              <a:rPr lang="en-US" altLang="en-US" sz="2800"/>
              <a:t>Definition</a:t>
            </a:r>
            <a:endParaRPr lang="en-US" altLang="en-US" sz="2800"/>
          </a:p>
          <a:p>
            <a:endParaRPr lang="en-US" altLang="en-US" sz="2800"/>
          </a:p>
          <a:p>
            <a:pPr>
              <a:lnSpc>
                <a:spcPct val="100000"/>
              </a:lnSpc>
            </a:pPr>
            <a:r>
              <a:rPr lang="en-US" altLang="en-US" sz="2800"/>
              <a:t>Terminals are the basic symbols of a language.</a:t>
            </a:r>
            <a:endParaRPr lang="en-US" altLang="en-US" sz="2800"/>
          </a:p>
          <a:p>
            <a:pPr>
              <a:lnSpc>
                <a:spcPct val="100000"/>
              </a:lnSpc>
            </a:pPr>
            <a:endParaRPr lang="en-US" altLang="en-US" sz="2800"/>
          </a:p>
          <a:p>
            <a:pPr>
              <a:lnSpc>
                <a:spcPct val="100000"/>
              </a:lnSpc>
            </a:pPr>
            <a:r>
              <a:rPr lang="en-US" altLang="en-US" sz="2800"/>
              <a:t>They cannot be broken down further using grammar rules.</a:t>
            </a:r>
            <a:endParaRPr lang="en-US" altLang="en-US" sz="2800"/>
          </a:p>
          <a:p>
            <a:pPr>
              <a:lnSpc>
                <a:spcPct val="100000"/>
              </a:lnSpc>
            </a:pPr>
            <a:endParaRPr lang="en-US" altLang="en-US" sz="2800"/>
          </a:p>
          <a:p>
            <a:pPr>
              <a:lnSpc>
                <a:spcPct val="100000"/>
              </a:lnSpc>
            </a:pPr>
            <a:r>
              <a:rPr lang="en-US" altLang="en-US" sz="2800"/>
              <a:t>They appear in the final output string of the grammar.</a:t>
            </a:r>
            <a:endParaRPr lang="en-US" altLang="en-US" sz="2800"/>
          </a:p>
          <a:p>
            <a:pPr>
              <a:lnSpc>
                <a:spcPct val="100000"/>
              </a:lnSpc>
            </a:pPr>
            <a:endParaRPr lang="en-US" altLang="en-US" sz="2800"/>
          </a:p>
          <a:p>
            <a:pPr>
              <a:lnSpc>
                <a:spcPct val="100000"/>
              </a:lnSpc>
            </a:pPr>
            <a:r>
              <a:rPr lang="en-US" altLang="en-US" sz="2800"/>
              <a:t>Terminals are usually produced by the lexical analyzer (lexer).</a:t>
            </a:r>
            <a:endParaRPr lang="en-US" altLang="en-US" sz="2800"/>
          </a:p>
          <a:p>
            <a:pPr>
              <a:lnSpc>
                <a:spcPct val="100000"/>
              </a:lnSpc>
            </a:pPr>
            <a:endParaRPr lang="en-US" altLang="en-US" sz="2800"/>
          </a:p>
          <a:p>
            <a:pPr>
              <a:lnSpc>
                <a:spcPct val="100000"/>
              </a:lnSpc>
            </a:pPr>
            <a:r>
              <a:rPr lang="en-US" altLang="en-US" sz="2800"/>
              <a:t>Terminals </a:t>
            </a:r>
            <a:r>
              <a:rPr lang="en-US" altLang="en-US" sz="2800">
                <a:solidFill>
                  <a:srgbClr val="FF0000"/>
                </a:solidFill>
              </a:rPr>
              <a:t>represent actual tokens in the source program.</a:t>
            </a:r>
            <a:endParaRPr lang="en-US" alt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Terminal Symbols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800" b="1">
                <a:solidFill>
                  <a:srgbClr val="FF0000"/>
                </a:solidFill>
              </a:rPr>
              <a:t>Examples</a:t>
            </a:r>
            <a:endParaRPr lang="en-US" altLang="en-US" sz="2800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Keywords: if, else, while, int</a:t>
            </a:r>
            <a:endParaRPr lang="en-US" altLang="en-US" sz="2800"/>
          </a:p>
          <a:p>
            <a:pPr marL="0" indent="0">
              <a:buNone/>
            </a:pP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Operators: +, -, *, /</a:t>
            </a:r>
            <a:endParaRPr lang="en-US" altLang="en-US" sz="2800"/>
          </a:p>
          <a:p>
            <a:pPr marL="0" indent="0">
              <a:buNone/>
            </a:pP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Identifiers: id</a:t>
            </a:r>
            <a:endParaRPr lang="en-US" altLang="en-US" sz="2800"/>
          </a:p>
          <a:p>
            <a:pPr marL="0" indent="0">
              <a:buNone/>
            </a:pP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Constants: num</a:t>
            </a:r>
            <a:endParaRPr lang="en-US" altLang="en-US" sz="2800"/>
          </a:p>
          <a:p>
            <a:pPr marL="0" indent="0">
              <a:buNone/>
            </a:pP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Special symbols: (, ), {, }, ;</a:t>
            </a:r>
            <a:endParaRPr lang="en-US" altLang="en-US" sz="2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Non-Terminal Symbols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Definition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Non-terminals are syntactic variables.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They represent language constructs or intermediate structures.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They are expanded further using production rules.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They do not appear in the final derived string.</a:t>
            </a:r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Non-Terminal Symbols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398770"/>
          </a:xfrm>
        </p:spPr>
        <p:txBody>
          <a:bodyPr/>
          <a:p>
            <a:r>
              <a:rPr lang="en-US" altLang="en-US"/>
              <a:t>Examples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 → Expression,  T → Term, F → Factor, S → Statement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Key Point</a:t>
            </a:r>
            <a:endParaRPr lang="en-US" altLang="en-US" b="1"/>
          </a:p>
          <a:p>
            <a:endParaRPr lang="en-US" altLang="en-US"/>
          </a:p>
          <a:p>
            <a:r>
              <a:rPr lang="en-US" altLang="en-US">
                <a:solidFill>
                  <a:srgbClr val="FF0000"/>
                </a:solidFill>
              </a:rPr>
              <a:t>Non-terminals help define the structure and hierarchy of the language.</a:t>
            </a:r>
            <a:endParaRPr lang="en-US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Example Grammar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E  → T E'</a:t>
            </a:r>
            <a:endParaRPr lang="en-US" altLang="en-US"/>
          </a:p>
          <a:p>
            <a:r>
              <a:rPr lang="en-US" altLang="en-US"/>
              <a:t>E' → + T E' | ε</a:t>
            </a:r>
            <a:endParaRPr lang="en-US" altLang="en-US"/>
          </a:p>
          <a:p>
            <a:r>
              <a:rPr lang="en-US" altLang="en-US"/>
              <a:t>T  → id | (E)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285" y="3316605"/>
            <a:ext cx="2402205" cy="26193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210" y="2117090"/>
            <a:ext cx="4897755" cy="37376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853440" y="1173480"/>
          <a:ext cx="10485120" cy="504825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841375">
                <a:tc>
                  <a:txBody>
                    <a:bodyPr/>
                    <a:p>
                      <a:r>
                        <a:rPr sz="2400" b="1"/>
                        <a:t>Aspect</a:t>
                      </a:r>
                      <a:endParaRPr sz="2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 b="1"/>
                        <a:t>Terminal</a:t>
                      </a:r>
                      <a:endParaRPr sz="2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 b="1"/>
                        <a:t>Non-Terminal</a:t>
                      </a:r>
                      <a:endParaRPr sz="2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41375">
                <a:tc>
                  <a:txBody>
                    <a:bodyPr/>
                    <a:p>
                      <a:r>
                        <a:rPr sz="2400"/>
                        <a:t>Definition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Basic symbols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Syntactic variables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41375">
                <a:tc>
                  <a:txBody>
                    <a:bodyPr/>
                    <a:p>
                      <a:r>
                        <a:rPr sz="2400"/>
                        <a:t>Can be expanded?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❌ No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✔ Yes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41375">
                <a:tc>
                  <a:txBody>
                    <a:bodyPr/>
                    <a:p>
                      <a:r>
                        <a:rPr sz="2400"/>
                        <a:t>Appears in final string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✔ Yes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❌ No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41375">
                <a:tc>
                  <a:txBody>
                    <a:bodyPr/>
                    <a:p>
                      <a:r>
                        <a:rPr sz="2400"/>
                        <a:t>Example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+, id, if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E, T, S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41375">
                <a:tc>
                  <a:txBody>
                    <a:bodyPr/>
                    <a:p>
                      <a:r>
                        <a:rPr sz="2400"/>
                        <a:t>Used by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Lexer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/>
                        <a:t>Parser</a:t>
                      </a:r>
                      <a:endParaRPr sz="2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unambiguous form: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88390" y="1691005"/>
            <a:ext cx="9052560" cy="403923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5*397"/>
  <p:tag name="TABLE_ENDDRAG_RECT" val="67*92*825*397"/>
</p:tagLst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4128</Words>
  <Application>WPS Presentation</Application>
  <PresentationFormat>Widescreen</PresentationFormat>
  <Paragraphs>292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3" baseType="lpstr">
      <vt:lpstr>Arial</vt:lpstr>
      <vt:lpstr>SimSun</vt:lpstr>
      <vt:lpstr>Wingdings</vt:lpstr>
      <vt:lpstr>Microsoft YaHei</vt:lpstr>
      <vt:lpstr>Arial Unicode MS</vt:lpstr>
      <vt:lpstr>Calibri</vt:lpstr>
      <vt:lpstr>Communications and Dialogues</vt:lpstr>
      <vt:lpstr>Syntax Analysis</vt:lpstr>
      <vt:lpstr>PowerPoint 演示文稿</vt:lpstr>
      <vt:lpstr>Eliminating Ambiguity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unambiguous form: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Syntax Analysis</dc:title>
  <dc:creator>T SUKUMAR</dc:creator>
  <cp:lastModifiedBy>Sukumar T</cp:lastModifiedBy>
  <cp:revision>37</cp:revision>
  <dcterms:created xsi:type="dcterms:W3CDTF">2025-08-14T03:59:00Z</dcterms:created>
  <dcterms:modified xsi:type="dcterms:W3CDTF">2025-12-28T10:10:07Z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C70140D858FC42659D0FA967A18691D8_11</vt:lpwstr>
  </property>
  <property fmtid="{D5CDD505-2E9C-101B-9397-08002B2CF9AE}" pid="3" name="KSOProductBuildVer">
    <vt:lpwstr>1033-12.2.0.23196</vt:lpwstr>
  </property>
</Properties>
</file>